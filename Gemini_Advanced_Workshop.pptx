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4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88952" cy="201168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64592" cy="201168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A2A5C"/>
                </a:solidFill>
                <a:latin typeface="Microsoft JhengHei"/>
              </a:rPr>
              <a:t>Google Gemini 進階工作坊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74BF"/>
                </a:solidFill>
                <a:latin typeface="Microsoft JhengHei"/>
              </a:rPr>
              <a:t>Advanced Workshop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03520"/>
            <a:ext cx="12188952" cy="457200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53035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JhengHei"/>
              </a:rPr>
              <a:t>大同醫護股份有限公司  ·  系統開發事業處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9436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E8F4FF"/>
                </a:solidFill>
                <a:latin typeface="Microsoft JhengHei"/>
              </a:rPr>
              <a:t>智慧醫療・智慧照護・智慧健康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5486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4BF"/>
                </a:solidFill>
                <a:latin typeface="Microsoft JhengHei"/>
              </a:rPr>
              <a:t>🔷 tmht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5943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09728" cy="594360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955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A2A5C"/>
                </a:solidFill>
                <a:latin typeface="Microsoft JhengHei"/>
              </a:rPr>
              <a:t>課程大綱 Agenda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09728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74BF"/>
                </a:solidFill>
                <a:latin typeface="Microsoft JhengHei"/>
              </a:rPr>
              <a:t>Google Gemini 進階工作坊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0074BF"/>
                </a:solidFill>
                <a:latin typeface="Microsoft JhengHei"/>
              </a:rPr>
              <a:t>大同醫護 TMHT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Microsoft JhengHei"/>
              </a:rPr>
              <a:t>① Gemini 生態系全景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Microsoft JhengHei"/>
              </a:rPr>
              <a:t>② Gemini Advanced vs 標準版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Microsoft JhengHei"/>
              </a:rPr>
              <a:t>③ Deep Research 深度研究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Microsoft JhengHei"/>
              </a:rPr>
              <a:t>④ Gems 個人化 AI 助理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Microsoft JhengHei"/>
              </a:rPr>
              <a:t>⑤ 多模態應用（文字 × 圖片 × 影片）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Microsoft JhengHei"/>
              </a:rPr>
              <a:t>⑥ Google Workspace 整合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Microsoft JhengHei"/>
              </a:rPr>
              <a:t>⑦ 進階提示詞工程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Microsoft JhengHei"/>
              </a:rPr>
              <a:t>⑧ NotebookLM 與 Gemini 協作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Microsoft JhengHei"/>
              </a:rPr>
              <a:t>⑨ 自動化工作流程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Microsoft JhengHei"/>
              </a:rPr>
              <a:t>⑩ 資安與隱私注意事項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Microsoft JhengHei"/>
              </a:rPr>
              <a:t>⑪ 實作演練</a:t>
            </a:r>
          </a:p>
          <a:p>
            <a:pPr algn="l"/>
            <a:r>
              <a:rPr sz="1500" b="0">
                <a:solidFill>
                  <a:srgbClr val="1A1A2E"/>
                </a:solidFill>
                <a:latin typeface="Microsoft JhengHei"/>
              </a:rPr>
              <a:t>⑫ Q &amp; 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5486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4BF"/>
                </a:solidFill>
                <a:latin typeface="Microsoft JhengHei"/>
              </a:rPr>
              <a:t>🔷 tmht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5943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09728" cy="594360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955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A2A5C"/>
                </a:solidFill>
                <a:latin typeface="Microsoft JhengHei"/>
              </a:rPr>
              <a:t>① Gemini 生態系全景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09728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74BF"/>
                </a:solidFill>
                <a:latin typeface="Microsoft JhengHei"/>
              </a:rPr>
              <a:t>Google Gemini 進階工作坊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0074BF"/>
                </a:solidFill>
                <a:latin typeface="Microsoft JhengHei"/>
              </a:rPr>
              <a:t>大同醫護 TMHT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Microsoft JhengHei"/>
              </a:rPr>
              <a:t>• Gemini 模型家族：Ultra / Pro / Flash / Nano</a:t>
            </a:r>
          </a:p>
          <a:p>
            <a:pPr algn="l"/>
            <a:r>
              <a:rPr sz="1700" b="0">
                <a:solidFill>
                  <a:srgbClr val="1A1A2E"/>
                </a:solidFill>
                <a:latin typeface="Microsoft JhengHei"/>
              </a:rPr>
              <a:t>• Google 產品全面整合：Search、Gmail、Docs、Meet…</a:t>
            </a:r>
          </a:p>
          <a:p>
            <a:pPr algn="l"/>
            <a:r>
              <a:rPr sz="1700" b="0">
                <a:solidFill>
                  <a:srgbClr val="1A1A2E"/>
                </a:solidFill>
                <a:latin typeface="Microsoft JhengHei"/>
              </a:rPr>
              <a:t>• Gemini API &amp; AI Studio：開發者入口</a:t>
            </a:r>
          </a:p>
          <a:p>
            <a:pPr algn="l"/>
            <a:r>
              <a:rPr sz="1700" b="0">
                <a:solidFill>
                  <a:srgbClr val="1A1A2E"/>
                </a:solidFill>
                <a:latin typeface="Microsoft JhengHei"/>
              </a:rPr>
              <a:t>• Vertex AI：企業級部署平台</a:t>
            </a:r>
          </a:p>
          <a:p>
            <a:pPr algn="l"/>
            <a:r>
              <a:rPr sz="1700" b="0">
                <a:solidFill>
                  <a:srgbClr val="1A1A2E"/>
                </a:solidFill>
                <a:latin typeface="Microsoft JhengHei"/>
              </a:rPr>
              <a:t>• 與 ChatGPT / Copilot 的定位差異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645920"/>
            <a:ext cx="3931920" cy="36576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173736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2A5C"/>
                </a:solidFill>
                <a:latin typeface="Microsoft JhengHei"/>
              </a:rPr>
              <a:t>💡 重點</a:t>
            </a:r>
          </a:p>
          <a:p>
            <a:pPr algn="l"/>
            <a:r>
              <a:rPr sz="1400" b="0">
                <a:solidFill>
                  <a:srgbClr val="0A2A5C"/>
                </a:solidFill>
                <a:latin typeface="Microsoft JhengHei"/>
              </a:rPr>
              <a:t>1T+ tokens 訓練量</a:t>
            </a:r>
          </a:p>
          <a:p>
            <a:pPr algn="l"/>
            <a:r>
              <a:rPr sz="1400" b="0">
                <a:solidFill>
                  <a:srgbClr val="0A2A5C"/>
                </a:solidFill>
                <a:latin typeface="Microsoft JhengHei"/>
              </a:rPr>
              <a:t>多模態原生設計</a:t>
            </a:r>
          </a:p>
          <a:p>
            <a:pPr algn="l"/>
            <a:r>
              <a:rPr sz="1400" b="0">
                <a:solidFill>
                  <a:srgbClr val="0A2A5C"/>
                </a:solidFill>
                <a:latin typeface="Microsoft JhengHei"/>
              </a:rPr>
              <a:t>企業 SLA 保障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5486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4BF"/>
                </a:solidFill>
                <a:latin typeface="Microsoft JhengHei"/>
              </a:rPr>
              <a:t>🔷 tmht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5943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09728" cy="594360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955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A2A5C"/>
                </a:solidFill>
                <a:latin typeface="Microsoft JhengHei"/>
              </a:rPr>
              <a:t>② Gemini Advanced vs 標準版比較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09728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74BF"/>
                </a:solidFill>
                <a:latin typeface="Microsoft JhengHei"/>
              </a:rPr>
              <a:t>Google Gemini 進階工作坊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0074BF"/>
                </a:solidFill>
                <a:latin typeface="Microsoft JhengHei"/>
              </a:rPr>
              <a:t>大同醫護 TMHT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3474720" cy="475488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5506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功能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1600200"/>
            <a:ext cx="3474720" cy="475488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80" y="165506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標準版 (免費)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0" y="1600200"/>
            <a:ext cx="3840480" cy="475488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1655064"/>
            <a:ext cx="3749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Advanced (企業)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075688"/>
            <a:ext cx="3474720" cy="47548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13055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JhengHei"/>
              </a:rPr>
              <a:t>模型版本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2075688"/>
            <a:ext cx="3474720" cy="47548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69080" y="213055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JhengHei"/>
              </a:rPr>
              <a:t>Gemini 1.5 Flash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0" y="2075688"/>
            <a:ext cx="3840480" cy="47548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2130552"/>
            <a:ext cx="3749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JhengHei"/>
              </a:rPr>
              <a:t>Gemini 1.5 Pro / Ultra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551176"/>
            <a:ext cx="3474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6060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JhengHei"/>
              </a:rPr>
              <a:t>上下文視窗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0" y="2551176"/>
            <a:ext cx="3474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9080" y="26060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JhengHei"/>
              </a:rPr>
              <a:t>32K tokens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0" y="2551176"/>
            <a:ext cx="3840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2606040"/>
            <a:ext cx="3749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JhengHei"/>
              </a:rPr>
              <a:t>1M tokens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026664"/>
            <a:ext cx="3474720" cy="47548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0815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JhengHei"/>
              </a:rPr>
              <a:t>Deep Research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3026664"/>
            <a:ext cx="3474720" cy="47548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69080" y="30815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JhengHei"/>
              </a:rPr>
              <a:t>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80" y="3026664"/>
            <a:ext cx="3840480" cy="47548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43800" y="3081528"/>
            <a:ext cx="3749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JhengHei"/>
              </a:rPr>
              <a:t>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502152"/>
            <a:ext cx="3474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355701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JhengHei"/>
              </a:rPr>
              <a:t>Gems 自訂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23360" y="3502152"/>
            <a:ext cx="3474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69080" y="355701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JhengHei"/>
              </a:rPr>
              <a:t>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80" y="3502152"/>
            <a:ext cx="3840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43800" y="3557016"/>
            <a:ext cx="3749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JhengHei"/>
              </a:rPr>
              <a:t>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977640"/>
            <a:ext cx="3474720" cy="47548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403250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JhengHei"/>
              </a:rPr>
              <a:t>Google One 雲端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23360" y="3977640"/>
            <a:ext cx="3474720" cy="47548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69080" y="403250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JhengHei"/>
              </a:rPr>
              <a:t>15 GB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80" y="3977640"/>
            <a:ext cx="3840480" cy="47548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43800" y="4032504"/>
            <a:ext cx="3749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JhengHei"/>
              </a:rPr>
              <a:t>2 TB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453128"/>
            <a:ext cx="3474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45079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JhengHei"/>
              </a:rPr>
              <a:t>資料隱私保護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23360" y="4453128"/>
            <a:ext cx="3474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69080" y="45079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JhengHei"/>
              </a:rPr>
              <a:t>基本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98080" y="4453128"/>
            <a:ext cx="3840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43800" y="4507992"/>
            <a:ext cx="3749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JhengHei"/>
              </a:rPr>
              <a:t>企業級隔離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5486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4BF"/>
                </a:solidFill>
                <a:latin typeface="Microsoft JhengHei"/>
              </a:rPr>
              <a:t>🔷 tmht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5943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09728" cy="594360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955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A2A5C"/>
                </a:solidFill>
                <a:latin typeface="Microsoft JhengHei"/>
              </a:rPr>
              <a:t>③ Deep Research 深度研究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09728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74BF"/>
                </a:solidFill>
                <a:latin typeface="Microsoft JhengHei"/>
              </a:rPr>
              <a:t>Google Gemini 進階工作坊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0074BF"/>
                </a:solidFill>
                <a:latin typeface="Microsoft JhengHei"/>
              </a:rPr>
              <a:t>大同醫護 TMHT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11338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Microsoft JhengHei"/>
              </a:rPr>
              <a:t>【什麼是 Deep Research？】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JhengHei"/>
              </a:rPr>
              <a:t>  AI 自動執行多輪搜尋 → 分析 → 彙整，產出完整報告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JhengHei"/>
              </a:rPr>
              <a:t/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JhengHei"/>
              </a:rPr>
              <a:t>【操作流程】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JhengHei"/>
              </a:rPr>
              <a:t>  輸入主題 → 確認研究計畫 → 等待（約 5–10 分鐘）→ 取得報告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JhengHei"/>
              </a:rPr>
              <a:t/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JhengHei"/>
              </a:rPr>
              <a:t>【適用場景】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JhengHei"/>
              </a:rPr>
              <a:t>  • 市場調查  • 競品分析  • 法規研讀  • 學術文獻整理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JhengHei"/>
              </a:rPr>
              <a:t/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JhengHei"/>
              </a:rPr>
              <a:t>【注意事項】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JhengHei"/>
              </a:rPr>
              <a:t>  ▸ 僅 Advanced 用戶可使用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JhengHei"/>
              </a:rPr>
              <a:t>  ▸ 輸出須人工查核引用來源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JhengHei"/>
              </a:rPr>
              <a:t>  ▸ 可匯出為 Google Docs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5486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4BF"/>
                </a:solidFill>
                <a:latin typeface="Microsoft JhengHei"/>
              </a:rPr>
              <a:t>🔷 tmht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5943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09728" cy="594360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955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A2A5C"/>
                </a:solidFill>
                <a:latin typeface="Microsoft JhengHei"/>
              </a:rPr>
              <a:t>④ Gems 個人化 AI 助理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09728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74BF"/>
                </a:solidFill>
                <a:latin typeface="Microsoft JhengHei"/>
              </a:rPr>
              <a:t>Google Gemini 進階工作坊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0074BF"/>
                </a:solidFill>
                <a:latin typeface="Microsoft JhengHei"/>
              </a:rPr>
              <a:t>大同醫護 TMHT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5303520" cy="18288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45920"/>
            <a:ext cx="5303520" cy="411480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824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JhengHei"/>
              </a:rPr>
              <a:t>🤖 什麼是 Gem？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4884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>預先設定角色、知識庫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>與回應風格的 AI 助手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645920"/>
            <a:ext cx="5303520" cy="182880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645920"/>
            <a:ext cx="5303520" cy="411480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824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JhengHei"/>
              </a:rPr>
              <a:t>🏗 建立方式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>指定名稱 + 角色設定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>+ 上傳知識文件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49040"/>
            <a:ext cx="5303520" cy="18288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49040"/>
            <a:ext cx="5303520" cy="411480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78561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JhengHei"/>
              </a:rPr>
              <a:t>📚 應用範例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519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>客服機器人 / 教育導師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>/ 醫療文件審閱助理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749040"/>
            <a:ext cx="5303520" cy="182880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749040"/>
            <a:ext cx="5303520" cy="411480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78561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JhengHei"/>
              </a:rPr>
              <a:t>🔗 共享方式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2519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>可在組織內共享連結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>（需 Workspace 授權）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5486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4BF"/>
                </a:solidFill>
                <a:latin typeface="Microsoft JhengHei"/>
              </a:rPr>
              <a:t>🔷 tmht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5943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09728" cy="594360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955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A2A5C"/>
                </a:solidFill>
                <a:latin typeface="Microsoft JhengHei"/>
              </a:rPr>
              <a:t>⑤ 多模態應用（文字 × 圖片 × 影片 × 音訊）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09728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74BF"/>
                </a:solidFill>
                <a:latin typeface="Microsoft JhengHei"/>
              </a:rPr>
              <a:t>Google Gemini 進階工作坊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0074BF"/>
                </a:solidFill>
                <a:latin typeface="Microsoft JhengHei"/>
              </a:rPr>
              <a:t>大同醫護 TMHT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11338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Microsoft JhengHei"/>
              </a:rPr>
              <a:t>📝 文字  →  長文摘要、程式碼生成、多語翻譯</a:t>
            </a:r>
          </a:p>
          <a:p>
            <a:pPr algn="l"/>
            <a:r>
              <a:rPr sz="1700" b="0">
                <a:solidFill>
                  <a:srgbClr val="1A1A2E"/>
                </a:solidFill>
                <a:latin typeface="Microsoft JhengHei"/>
              </a:rPr>
              <a:t/>
            </a:r>
          </a:p>
          <a:p>
            <a:pPr algn="l"/>
            <a:r>
              <a:rPr sz="1700" b="0">
                <a:solidFill>
                  <a:srgbClr val="1A1A2E"/>
                </a:solidFill>
                <a:latin typeface="Microsoft JhengHei"/>
              </a:rPr>
              <a:t>🖼 圖片  →  影像描述、文件 OCR、醫療影像初判（示範）</a:t>
            </a:r>
          </a:p>
          <a:p>
            <a:pPr algn="l"/>
            <a:r>
              <a:rPr sz="1700" b="0">
                <a:solidFill>
                  <a:srgbClr val="1A1A2E"/>
                </a:solidFill>
                <a:latin typeface="Microsoft JhengHei"/>
              </a:rPr>
              <a:t/>
            </a:r>
          </a:p>
          <a:p>
            <a:pPr algn="l"/>
            <a:r>
              <a:rPr sz="1700" b="0">
                <a:solidFill>
                  <a:srgbClr val="1A1A2E"/>
                </a:solidFill>
                <a:latin typeface="Microsoft JhengHei"/>
              </a:rPr>
              <a:t>🎬 影片  →  YouTube 影片分析、時間軸摘要、關鍵場景擷取</a:t>
            </a:r>
          </a:p>
          <a:p>
            <a:pPr algn="l"/>
            <a:r>
              <a:rPr sz="1700" b="0">
                <a:solidFill>
                  <a:srgbClr val="1A1A2E"/>
                </a:solidFill>
                <a:latin typeface="Microsoft JhengHei"/>
              </a:rPr>
              <a:t/>
            </a:r>
          </a:p>
          <a:p>
            <a:pPr algn="l"/>
            <a:r>
              <a:rPr sz="1700" b="0">
                <a:solidFill>
                  <a:srgbClr val="1A1A2E"/>
                </a:solidFill>
                <a:latin typeface="Microsoft JhengHei"/>
              </a:rPr>
              <a:t>🎙 音訊  →  語音轉文字、會議記錄整理</a:t>
            </a:r>
          </a:p>
          <a:p>
            <a:pPr algn="l"/>
            <a:r>
              <a:rPr sz="1700" b="0">
                <a:solidFill>
                  <a:srgbClr val="1A1A2E"/>
                </a:solidFill>
                <a:latin typeface="Microsoft JhengHei"/>
              </a:rPr>
              <a:t/>
            </a:r>
          </a:p>
          <a:p>
            <a:pPr algn="l"/>
            <a:r>
              <a:rPr sz="1700" b="0">
                <a:solidFill>
                  <a:srgbClr val="1A1A2E"/>
                </a:solidFill>
                <a:latin typeface="Microsoft JhengHei"/>
              </a:rPr>
              <a:t>📄 PDF / 試算表  →  1M tokens 脈絡，整本書丟進去分析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5486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4BF"/>
                </a:solidFill>
                <a:latin typeface="Microsoft JhengHei"/>
              </a:rPr>
              <a:t>🔷 tmht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5943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09728" cy="594360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955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A2A5C"/>
                </a:solidFill>
                <a:latin typeface="Microsoft JhengHei"/>
              </a:rPr>
              <a:t>⑥ Google Workspace 深度整合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09728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74BF"/>
                </a:solidFill>
                <a:latin typeface="Microsoft JhengHei"/>
              </a:rPr>
              <a:t>Google Gemini 進階工作坊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0074BF"/>
                </a:solidFill>
                <a:latin typeface="Microsoft JhengHei"/>
              </a:rPr>
              <a:t>大同醫護 TMHT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3566160" cy="169164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190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A5C"/>
                </a:solidFill>
                <a:latin typeface="Microsoft JhengHei"/>
              </a:rPr>
              <a:t>✉️ Gmail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JhengHei"/>
              </a:rPr>
              <a:t>智慧回覆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icrosoft JhengHei"/>
              </a:rPr>
              <a:t>郵件摘要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icrosoft JhengHei"/>
              </a:rPr>
              <a:t>草稿生成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645920"/>
            <a:ext cx="3566160" cy="169164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7190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A5C"/>
                </a:solidFill>
                <a:latin typeface="Microsoft JhengHei"/>
              </a:rPr>
              <a:t>📄 Docs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10312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JhengHei"/>
              </a:rPr>
              <a:t>一鍵起草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icrosoft JhengHei"/>
              </a:rPr>
              <a:t>改寫潤稿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icrosoft JhengHei"/>
              </a:rPr>
              <a:t>摘要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645920"/>
            <a:ext cx="3566160" cy="169164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17190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A5C"/>
                </a:solidFill>
                <a:latin typeface="Microsoft JhengHei"/>
              </a:rPr>
              <a:t>📊 Sheets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10312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JhengHei"/>
              </a:rPr>
              <a:t>公式說明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icrosoft JhengHei"/>
              </a:rPr>
              <a:t>資料分析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icrosoft JhengHei"/>
              </a:rPr>
              <a:t>圖表建議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29000"/>
            <a:ext cx="3566160" cy="169164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5021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A5C"/>
                </a:solidFill>
                <a:latin typeface="Microsoft JhengHei"/>
              </a:rPr>
              <a:t>📽 Slides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8862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JhengHei"/>
              </a:rPr>
              <a:t>投影片生成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icrosoft JhengHei"/>
              </a:rPr>
              <a:t>演講稿撰寫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3429000"/>
            <a:ext cx="3566160" cy="169164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35021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A5C"/>
                </a:solidFill>
                <a:latin typeface="Microsoft JhengHei"/>
              </a:rPr>
              <a:t>💬 Meet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8862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JhengHei"/>
              </a:rPr>
              <a:t>會議摘要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icrosoft JhengHei"/>
              </a:rPr>
              <a:t>Action Items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icrosoft JhengHei"/>
              </a:rPr>
              <a:t>自動翻譯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3429000"/>
            <a:ext cx="3566160" cy="169164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35021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A5C"/>
                </a:solidFill>
                <a:latin typeface="Microsoft JhengHei"/>
              </a:rPr>
              <a:t>🔍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8862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JhengHei"/>
              </a:rPr>
              <a:t>AI Overview</a:t>
            </a:r>
          </a:p>
          <a:p>
            <a:pPr algn="l"/>
            <a:r>
              <a:rPr sz="1300" b="0">
                <a:solidFill>
                  <a:srgbClr val="1A1A2E"/>
                </a:solidFill>
                <a:latin typeface="Microsoft JhengHei"/>
              </a:rPr>
              <a:t>NotebookLM 整合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5486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4BF"/>
                </a:solidFill>
                <a:latin typeface="Microsoft JhengHei"/>
              </a:rPr>
              <a:t>🔷 tmht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5943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09728" cy="594360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955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A2A5C"/>
                </a:solidFill>
                <a:latin typeface="Microsoft JhengHei"/>
              </a:rPr>
              <a:t>⑦ 進階提示詞工程 Prompt Engineering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09728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74BF"/>
                </a:solidFill>
                <a:latin typeface="Microsoft JhengHei"/>
              </a:rPr>
              <a:t>Google Gemini 進階工作坊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0074BF"/>
                </a:solidFill>
                <a:latin typeface="Microsoft JhengHei"/>
              </a:rPr>
              <a:t>大同醫護 TMHT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11338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Microsoft JhengHei"/>
              </a:rPr>
              <a:t>【基礎框架】Role → Task → Context → Format → Constraint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JhengHei"/>
              </a:rPr>
              <a:t/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JhengHei"/>
              </a:rPr>
              <a:t>【Chain-of-Thought (CoT)】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JhengHei"/>
              </a:rPr>
              <a:t>  「請一步步思考…」→ 提升推理準確率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JhengHei"/>
              </a:rPr>
              <a:t/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JhengHei"/>
              </a:rPr>
              <a:t>【Few-shot 範例注入】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JhengHei"/>
              </a:rPr>
              <a:t>  提供 2–3 個示範樣本，引導輸出格式與風格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JhengHei"/>
              </a:rPr>
              <a:t/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JhengHei"/>
              </a:rPr>
              <a:t>【系統提示詞（Gems 用）】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JhengHei"/>
              </a:rPr>
              <a:t>  設定角色背景、語言規範、禁止事項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JhengHei"/>
              </a:rPr>
              <a:t/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JhengHei"/>
              </a:rPr>
              <a:t>【實作練習提示】</a:t>
            </a:r>
          </a:p>
          <a:p>
            <a:pPr algn="l"/>
            <a:r>
              <a:rPr sz="1600" b="0">
                <a:solidFill>
                  <a:srgbClr val="1A1A2E"/>
                </a:solidFill>
                <a:latin typeface="Microsoft JhengHei"/>
              </a:rPr>
              <a:t>  ▶ 寫一個「醫療文件審閱助理」的完整 Gem 設定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5486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4BF"/>
                </a:solidFill>
                <a:latin typeface="Microsoft JhengHei"/>
              </a:rPr>
              <a:t>🔷 tmht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5943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09728" cy="594360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955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A2A5C"/>
                </a:solidFill>
                <a:latin typeface="Microsoft JhengHei"/>
              </a:rPr>
              <a:t>⑧ NotebookLM × Gemini 協作工作流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09728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74BF"/>
                </a:solidFill>
                <a:latin typeface="Microsoft JhengHei"/>
              </a:rPr>
              <a:t>Google Gemini 進階工作坊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0074BF"/>
                </a:solidFill>
                <a:latin typeface="Microsoft JhengHei"/>
              </a:rPr>
              <a:t>大同醫護 TMHT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11680"/>
            <a:ext cx="2560320" cy="27432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011680"/>
            <a:ext cx="2560320" cy="457200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29968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📂 上傳資料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0604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>PDF / Docs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>YouTube / 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0175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74BF"/>
                </a:solidFill>
                <a:latin typeface="Microsoft JhengHe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2011680"/>
            <a:ext cx="2560320" cy="274320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2011680"/>
            <a:ext cx="2560320" cy="457200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2029968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🔍 NotebookLM</a:t>
            </a:r>
          </a:p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260604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>自動建立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>AI 摘要筆記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0175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74BF"/>
                </a:solidFill>
                <a:latin typeface="Microsoft JhengHe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011680"/>
            <a:ext cx="2560320" cy="27432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2011680"/>
            <a:ext cx="2560320" cy="457200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2029968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💬 Gemini</a:t>
            </a:r>
          </a:p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深化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60604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>跨來源提問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>Deep Research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30175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74BF"/>
                </a:solidFill>
                <a:latin typeface="Microsoft JhengHe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15400" y="2011680"/>
            <a:ext cx="2560320" cy="274320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15400" y="2011680"/>
            <a:ext cx="2560320" cy="457200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2029968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JhengHei"/>
              </a:rPr>
              <a:t>📊 輸出成果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60604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>報告 / 簡報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>音訊概覽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212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2A5C"/>
                </a:solidFill>
                <a:latin typeface="Microsoft JhengHei"/>
              </a:rPr>
              <a:t>💡 核心優勢：NotebookLM 鎖定私有知識庫；Gemini 連接即時網路 → 兩者互補，效果倍增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5486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4BF"/>
                </a:solidFill>
                <a:latin typeface="Microsoft JhengHei"/>
              </a:rPr>
              <a:t>🔷 tmht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88952" cy="5943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09728" cy="594360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955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A2A5C"/>
                </a:solidFill>
                <a:latin typeface="Microsoft JhengHei"/>
              </a:rPr>
              <a:t>⑨⑩ 自動化工作流 &amp; 資安隱私注意事項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09728"/>
          </a:xfrm>
          <a:prstGeom prst="rect">
            <a:avLst/>
          </a:prstGeom>
          <a:solidFill>
            <a:srgbClr val="007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74BF"/>
                </a:solidFill>
                <a:latin typeface="Microsoft JhengHei"/>
              </a:rPr>
              <a:t>Google Gemini 進階工作坊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0074BF"/>
                </a:solidFill>
                <a:latin typeface="Microsoft JhengHei"/>
              </a:rPr>
              <a:t>大同醫護 TMHT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00200"/>
            <a:ext cx="5394960" cy="45720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600200"/>
            <a:ext cx="5486400" cy="4572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69164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>【自動化工作流程】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/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>• Google AppScript + Gemini API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>  自動摘要 Gmail / 生成週報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/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>• Make / Zapier 整合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>  觸發式 AI 任務排程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/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>• Vertex AI Agent Builder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>  企業級 RAG 知識機器人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9164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>【資安 &amp; 隱私守則】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/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>⚠️ 勿輸入病患個資、商業機密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/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>⚠️ Workspace 個人版 ≠ 企業隔離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/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>✅ 啟用「不改善 Google 產品」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/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>✅ 資料在台需確認 region 設定</a:t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/>
            </a:r>
          </a:p>
          <a:p>
            <a:pPr algn="l"/>
            <a:r>
              <a:rPr sz="1400" b="0">
                <a:solidFill>
                  <a:srgbClr val="1A1A2E"/>
                </a:solidFill>
                <a:latin typeface="Microsoft JhengHei"/>
              </a:rPr>
              <a:t>✅ 定期審閱 AI 活動記錄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4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88952" cy="228600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82880" cy="228600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0A2A5C"/>
                </a:solidFill>
                <a:latin typeface="Microsoft JhengHei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10896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74BF"/>
                </a:solidFill>
                <a:latin typeface="Microsoft JhengHei"/>
              </a:rPr>
              <a:t>THANKS FOR YOUR PARTICIPATION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212080"/>
            <a:ext cx="12188952" cy="502920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5230368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提供全方位的解決方案與服務　客戶最佳的合作夥伴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1148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A2A5C"/>
                </a:solidFill>
                <a:latin typeface="Microsoft JhengHei"/>
              </a:rPr>
              <a:t>🔷 tmht  TATUNG MEDICAL &amp; HEALTHCARE TECHNOLOGIES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